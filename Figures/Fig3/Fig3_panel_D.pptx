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08" r:id="rId4"/>
  </p:sldMasterIdLst>
  <p:notesMasterIdLst>
    <p:notesMasterId r:id="rId6"/>
  </p:notesMasterIdLst>
  <p:handoutMasterIdLst>
    <p:handoutMasterId r:id="rId7"/>
  </p:handoutMasterIdLst>
  <p:sldIdLst>
    <p:sldId id="2134960291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B98"/>
    <a:srgbClr val="F58C39"/>
    <a:srgbClr val="005BAA"/>
    <a:srgbClr val="DA1A32"/>
    <a:srgbClr val="55C6D9"/>
    <a:srgbClr val="FFCD34"/>
    <a:srgbClr val="008F42"/>
    <a:srgbClr val="9C3192"/>
    <a:srgbClr val="81C241"/>
    <a:srgbClr val="00829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4138" autoAdjust="0"/>
    <p:restoredTop sz="94422" autoAdjust="0"/>
  </p:normalViewPr>
  <p:slideViewPr>
    <p:cSldViewPr snapToGrid="0">
      <p:cViewPr varScale="1">
        <p:scale>
          <a:sx n="116" d="100"/>
          <a:sy n="116" d="100"/>
        </p:scale>
        <p:origin x="320" y="19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30" d="100"/>
          <a:sy n="130" d="100"/>
        </p:scale>
        <p:origin x="4800" y="19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C6A8FC-09DD-4A02-B0BD-07D6A3A531B7}" type="datetimeFigureOut">
              <a:rPr lang="en-AU" smtClean="0"/>
              <a:t>16/12/2025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1039BA-B666-4059-8A6A-B6D10A4BC24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2579563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Trebuchet MS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Trebuchet MS"/>
              </a:defRPr>
            </a:lvl1pPr>
          </a:lstStyle>
          <a:p>
            <a:fld id="{718AE4B1-16D6-8544-BECF-FB798A12624D}" type="datetimeFigureOut">
              <a:rPr lang="en-US" smtClean="0"/>
              <a:pPr/>
              <a:t>12/16/25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Trebuchet MS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Trebuchet MS"/>
              </a:defRPr>
            </a:lvl1pPr>
          </a:lstStyle>
          <a:p>
            <a:fld id="{96A83272-D71E-5049-9469-75CCEBDE4F6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43880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Trebuchet MS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Trebuchet MS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Trebuchet MS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Trebuchet MS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Trebuchet MS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64530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 – Trebuchet, 28pt, MCRI Blue</a:t>
            </a:r>
          </a:p>
          <a:p>
            <a:pPr lvl="1"/>
            <a:r>
              <a:rPr lang="en-US"/>
              <a:t>Second level – Trebuchet, 25pt, Black</a:t>
            </a:r>
          </a:p>
          <a:p>
            <a:pPr marL="914400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Third level – Trebuchet, 18pt, Black</a:t>
            </a:r>
          </a:p>
          <a:p>
            <a:pPr marL="285750" lvl="3" indent="-285750">
              <a:buFont typeface="Wingdings" panose="05000000000000000000" pitchFamily="2" charset="2"/>
              <a:buChar char="§"/>
            </a:pPr>
            <a:r>
              <a:rPr lang="en-US"/>
              <a:t>Fourth level – Trebuchet, 18pt, Black</a:t>
            </a:r>
          </a:p>
          <a:p>
            <a:pPr marL="916686" lvl="4" indent="-285750">
              <a:buFont typeface="Wingdings" panose="05000000000000000000" pitchFamily="2" charset="2"/>
              <a:buChar char="§"/>
            </a:pPr>
            <a:r>
              <a:rPr lang="en-US"/>
              <a:t>Fifth level – Trebuchet, 16pt, Black 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Trebuchet MS"/>
              </a:defRPr>
            </a:lvl1pPr>
          </a:lstStyle>
          <a:p>
            <a:fld id="{98562DB6-D5EB-E744-B3B9-173566BBE320}" type="datetimeFigureOut">
              <a:rPr lang="en-US" smtClean="0"/>
              <a:pPr/>
              <a:t>12/16/25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Trebuchet MS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Trebuchet MS"/>
              </a:defRPr>
            </a:lvl1pPr>
          </a:lstStyle>
          <a:p>
            <a:fld id="{2A6E3743-1AF2-0847-B3A2-E4CA566DB74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6273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rgbClr val="56585A"/>
          </a:solidFill>
          <a:latin typeface="Trebuchet MS"/>
          <a:ea typeface="+mj-ea"/>
          <a:cs typeface="Trebuchet M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kern="1200" baseline="0">
          <a:solidFill>
            <a:srgbClr val="45B2DB"/>
          </a:solidFill>
          <a:latin typeface="Trebuchet MS"/>
          <a:ea typeface="+mn-ea"/>
          <a:cs typeface="+mn-cs"/>
        </a:defRPr>
      </a:lvl1pPr>
      <a:lvl2pPr marL="0" indent="0" algn="l" defTabSz="914400" rtl="0" eaLnBrk="1" latinLnBrk="0" hangingPunct="1">
        <a:lnSpc>
          <a:spcPct val="100000"/>
        </a:lnSpc>
        <a:spcBef>
          <a:spcPts val="0"/>
        </a:spcBef>
        <a:buFont typeface="Arial" panose="020B0604020202020204" pitchFamily="34" charset="0"/>
        <a:buNone/>
        <a:defRPr sz="2500" kern="1200" baseline="0">
          <a:solidFill>
            <a:schemeClr val="tx1">
              <a:lumMod val="50000"/>
            </a:schemeClr>
          </a:solidFill>
          <a:latin typeface="+mj-lt"/>
          <a:ea typeface="+mn-ea"/>
          <a:cs typeface="+mn-cs"/>
        </a:defRPr>
      </a:lvl2pPr>
      <a:lvl3pPr marL="0" marR="0" indent="0" algn="l" defTabSz="914400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 typeface="Arial" panose="020B0604020202020204" pitchFamily="34" charset="0"/>
        <a:buNone/>
        <a:tabLst/>
        <a:defRPr sz="1800" kern="1200">
          <a:solidFill>
            <a:schemeClr val="tx1">
              <a:lumMod val="50000"/>
            </a:schemeClr>
          </a:solidFill>
          <a:latin typeface="+mj-lt"/>
          <a:ea typeface="+mn-ea"/>
          <a:cs typeface="+mn-cs"/>
        </a:defRPr>
      </a:lvl3pPr>
      <a:lvl4pPr marL="285750" marR="0" indent="-285750" algn="l" defTabSz="914400" rtl="0" eaLnBrk="1" fontAlgn="auto" latinLnBrk="0" hangingPunct="1">
        <a:lnSpc>
          <a:spcPct val="100000"/>
        </a:lnSpc>
        <a:spcBef>
          <a:spcPts val="500"/>
        </a:spcBef>
        <a:spcAft>
          <a:spcPts val="0"/>
        </a:spcAft>
        <a:buClr>
          <a:srgbClr val="45B2DB"/>
        </a:buClr>
        <a:buSzTx/>
        <a:buFont typeface="Wingdings" panose="05000000000000000000" pitchFamily="2" charset="2"/>
        <a:buChar char="§"/>
        <a:tabLst/>
        <a:defRPr sz="1800" kern="1200" baseline="0">
          <a:solidFill>
            <a:schemeClr val="tx1">
              <a:lumMod val="50000"/>
            </a:schemeClr>
          </a:solidFill>
          <a:latin typeface="Trebuchet MS"/>
          <a:ea typeface="+mn-ea"/>
          <a:cs typeface="+mn-cs"/>
        </a:defRPr>
      </a:lvl4pPr>
      <a:lvl5pPr marL="916686" marR="0" indent="-285750" algn="l" defTabSz="914400" rtl="0" eaLnBrk="1" fontAlgn="auto" latinLnBrk="0" hangingPunct="1">
        <a:lnSpc>
          <a:spcPct val="100000"/>
        </a:lnSpc>
        <a:spcBef>
          <a:spcPts val="1000"/>
        </a:spcBef>
        <a:spcAft>
          <a:spcPts val="0"/>
        </a:spcAft>
        <a:buClr>
          <a:srgbClr val="45B2DB"/>
        </a:buClr>
        <a:buSzTx/>
        <a:buFont typeface="Wingdings" panose="05000000000000000000" pitchFamily="2" charset="2"/>
        <a:buChar char="§"/>
        <a:tabLst/>
        <a:defRPr sz="1600" kern="1200" baseline="0">
          <a:solidFill>
            <a:schemeClr val="tx1">
              <a:lumMod val="50000"/>
            </a:schemeClr>
          </a:solidFill>
          <a:latin typeface="Trebuchet MS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BA2274-AEC4-742B-9CE8-F2C438DF4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A44B1BFD-68AA-CF0D-85EB-7B9387762769}"/>
              </a:ext>
            </a:extLst>
          </p:cNvPr>
          <p:cNvSpPr/>
          <p:nvPr/>
        </p:nvSpPr>
        <p:spPr>
          <a:xfrm>
            <a:off x="111079" y="2704709"/>
            <a:ext cx="1197589" cy="606394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Patient 2</a:t>
            </a:r>
          </a:p>
        </p:txBody>
      </p:sp>
      <p:sp>
        <p:nvSpPr>
          <p:cNvPr id="104" name="Rounded Rectangle 103">
            <a:extLst>
              <a:ext uri="{FF2B5EF4-FFF2-40B4-BE49-F238E27FC236}">
                <a16:creationId xmlns:a16="http://schemas.microsoft.com/office/drawing/2014/main" id="{E58A2866-23CC-1636-3A63-CCB3F4314148}"/>
              </a:ext>
            </a:extLst>
          </p:cNvPr>
          <p:cNvSpPr/>
          <p:nvPr/>
        </p:nvSpPr>
        <p:spPr>
          <a:xfrm>
            <a:off x="109594" y="435901"/>
            <a:ext cx="1197589" cy="606394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Patient 1</a:t>
            </a:r>
          </a:p>
        </p:txBody>
      </p:sp>
      <p:grpSp>
        <p:nvGrpSpPr>
          <p:cNvPr id="168" name="Group 167">
            <a:extLst>
              <a:ext uri="{FF2B5EF4-FFF2-40B4-BE49-F238E27FC236}">
                <a16:creationId xmlns:a16="http://schemas.microsoft.com/office/drawing/2014/main" id="{D33F439C-65FD-3742-BFE3-6374DFCD5580}"/>
              </a:ext>
            </a:extLst>
          </p:cNvPr>
          <p:cNvGrpSpPr/>
          <p:nvPr/>
        </p:nvGrpSpPr>
        <p:grpSpPr>
          <a:xfrm>
            <a:off x="1492362" y="2489593"/>
            <a:ext cx="10631892" cy="1708558"/>
            <a:chOff x="1487483" y="5135500"/>
            <a:chExt cx="10631892" cy="1708558"/>
          </a:xfrm>
        </p:grpSpPr>
        <p:sp>
          <p:nvSpPr>
            <p:cNvPr id="109" name="Terminator 108">
              <a:extLst>
                <a:ext uri="{FF2B5EF4-FFF2-40B4-BE49-F238E27FC236}">
                  <a16:creationId xmlns:a16="http://schemas.microsoft.com/office/drawing/2014/main" id="{3C7680EA-340A-A4B2-C1CB-6FA650FDD40B}"/>
                </a:ext>
              </a:extLst>
            </p:cNvPr>
            <p:cNvSpPr/>
            <p:nvPr/>
          </p:nvSpPr>
          <p:spPr>
            <a:xfrm>
              <a:off x="1487483" y="6136445"/>
              <a:ext cx="1387045" cy="410452"/>
            </a:xfrm>
            <a:prstGeom prst="flowChartTerminator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atin typeface="Arial" panose="020B0604020202020204" pitchFamily="34" charset="0"/>
                  <a:cs typeface="Arial" panose="020B0604020202020204" pitchFamily="34" charset="0"/>
                </a:rPr>
                <a:t>WGS no diagnosis</a:t>
              </a:r>
            </a:p>
          </p:txBody>
        </p:sp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D1E7822E-2355-9AA7-72D6-321BBD8877B4}"/>
                </a:ext>
              </a:extLst>
            </p:cNvPr>
            <p:cNvGrpSpPr/>
            <p:nvPr/>
          </p:nvGrpSpPr>
          <p:grpSpPr>
            <a:xfrm>
              <a:off x="7725105" y="6125829"/>
              <a:ext cx="4394270" cy="417391"/>
              <a:chOff x="7725105" y="6125829"/>
              <a:chExt cx="4394270" cy="417391"/>
            </a:xfrm>
          </p:grpSpPr>
          <p:sp>
            <p:nvSpPr>
              <p:cNvPr id="114" name="Terminator 113">
                <a:extLst>
                  <a:ext uri="{FF2B5EF4-FFF2-40B4-BE49-F238E27FC236}">
                    <a16:creationId xmlns:a16="http://schemas.microsoft.com/office/drawing/2014/main" id="{31C2395D-F35E-C6C7-E7E1-5C4B12A9C9DE}"/>
                  </a:ext>
                </a:extLst>
              </p:cNvPr>
              <p:cNvSpPr/>
              <p:nvPr/>
            </p:nvSpPr>
            <p:spPr>
              <a:xfrm>
                <a:off x="7725105" y="6127112"/>
                <a:ext cx="1387045" cy="410452"/>
              </a:xfrm>
              <a:prstGeom prst="flowChartTerminator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Enters reanalysis</a:t>
                </a:r>
              </a:p>
            </p:txBody>
          </p:sp>
          <p:sp>
            <p:nvSpPr>
              <p:cNvPr id="115" name="Terminator 114">
                <a:extLst>
                  <a:ext uri="{FF2B5EF4-FFF2-40B4-BE49-F238E27FC236}">
                    <a16:creationId xmlns:a16="http://schemas.microsoft.com/office/drawing/2014/main" id="{28BDF1D6-CE70-4843-3CDC-778D02C2C431}"/>
                  </a:ext>
                </a:extLst>
              </p:cNvPr>
              <p:cNvSpPr/>
              <p:nvPr/>
            </p:nvSpPr>
            <p:spPr>
              <a:xfrm>
                <a:off x="9349023" y="6132768"/>
                <a:ext cx="1387045" cy="410452"/>
              </a:xfrm>
              <a:prstGeom prst="flowChartTerminator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RNU4-2 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added to PanelApp</a:t>
                </a:r>
                <a:endParaRPr lang="en-US" sz="1200" i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16" name="Terminator 115">
                <a:extLst>
                  <a:ext uri="{FF2B5EF4-FFF2-40B4-BE49-F238E27FC236}">
                    <a16:creationId xmlns:a16="http://schemas.microsoft.com/office/drawing/2014/main" id="{B703B25E-57A6-42F1-73D4-66E9693F966D}"/>
                  </a:ext>
                </a:extLst>
              </p:cNvPr>
              <p:cNvSpPr/>
              <p:nvPr/>
            </p:nvSpPr>
            <p:spPr>
              <a:xfrm>
                <a:off x="10732330" y="6125829"/>
                <a:ext cx="1387045" cy="410452"/>
              </a:xfrm>
              <a:prstGeom prst="flowChartTerminator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Talos diagnosis</a:t>
                </a:r>
              </a:p>
            </p:txBody>
          </p:sp>
          <p:sp>
            <p:nvSpPr>
              <p:cNvPr id="117" name="Oval 116">
                <a:extLst>
                  <a:ext uri="{FF2B5EF4-FFF2-40B4-BE49-F238E27FC236}">
                    <a16:creationId xmlns:a16="http://schemas.microsoft.com/office/drawing/2014/main" id="{ED11F6F2-4DFE-124E-A578-F92700F13A81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047707" y="6147827"/>
                <a:ext cx="365760" cy="365760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/>
              </a:p>
            </p:txBody>
          </p:sp>
        </p:grp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419FFB21-9777-4F7F-0E0B-F02D8F961C2B}"/>
                </a:ext>
              </a:extLst>
            </p:cNvPr>
            <p:cNvSpPr txBox="1"/>
            <p:nvPr/>
          </p:nvSpPr>
          <p:spPr>
            <a:xfrm>
              <a:off x="1651498" y="6534856"/>
              <a:ext cx="107428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Jan 2020</a:t>
              </a:r>
            </a:p>
          </p:txBody>
        </p:sp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4C2DFA9A-E505-FA4A-BC4F-59DE19A3D1B6}"/>
                </a:ext>
              </a:extLst>
            </p:cNvPr>
            <p:cNvSpPr txBox="1"/>
            <p:nvPr/>
          </p:nvSpPr>
          <p:spPr>
            <a:xfrm>
              <a:off x="7881486" y="6536281"/>
              <a:ext cx="107428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Feb 2024</a:t>
              </a:r>
            </a:p>
          </p:txBody>
        </p: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29939018-2377-6F57-A5F0-DB8C02208C45}"/>
                </a:ext>
              </a:extLst>
            </p:cNvPr>
            <p:cNvSpPr txBox="1"/>
            <p:nvPr/>
          </p:nvSpPr>
          <p:spPr>
            <a:xfrm>
              <a:off x="9461421" y="6536280"/>
              <a:ext cx="107428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April 2024</a:t>
              </a:r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5AAFC7CD-9477-8DFE-41C5-6338CD923013}"/>
                </a:ext>
              </a:extLst>
            </p:cNvPr>
            <p:cNvSpPr txBox="1"/>
            <p:nvPr/>
          </p:nvSpPr>
          <p:spPr>
            <a:xfrm>
              <a:off x="10874178" y="6536279"/>
              <a:ext cx="107428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April 2024</a:t>
              </a:r>
            </a:p>
          </p:txBody>
        </p:sp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2F8D55CD-C0B0-3AAD-2E7B-430C91DBD20C}"/>
                </a:ext>
              </a:extLst>
            </p:cNvPr>
            <p:cNvGrpSpPr/>
            <p:nvPr/>
          </p:nvGrpSpPr>
          <p:grpSpPr>
            <a:xfrm>
              <a:off x="1643866" y="5135500"/>
              <a:ext cx="10106044" cy="518313"/>
              <a:chOff x="1643866" y="5256150"/>
              <a:chExt cx="10106044" cy="518313"/>
            </a:xfrm>
          </p:grpSpPr>
          <p:cxnSp>
            <p:nvCxnSpPr>
              <p:cNvPr id="105" name="Straight Connector 104">
                <a:extLst>
                  <a:ext uri="{FF2B5EF4-FFF2-40B4-BE49-F238E27FC236}">
                    <a16:creationId xmlns:a16="http://schemas.microsoft.com/office/drawing/2014/main" id="{1BF6C965-30E7-A55F-06C8-88A044E204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58324" y="5677502"/>
                <a:ext cx="9391586" cy="211"/>
              </a:xfrm>
              <a:prstGeom prst="line">
                <a:avLst/>
              </a:prstGeom>
              <a:ln w="92075" cap="rnd"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0" name="Oval 109">
                <a:extLst>
                  <a:ext uri="{FF2B5EF4-FFF2-40B4-BE49-F238E27FC236}">
                    <a16:creationId xmlns:a16="http://schemas.microsoft.com/office/drawing/2014/main" id="{67A73C8F-7A64-FFFE-26EB-336E831787A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089568" y="5590168"/>
                <a:ext cx="182880" cy="18288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/>
              </a:p>
            </p:txBody>
          </p:sp>
          <p:sp>
            <p:nvSpPr>
              <p:cNvPr id="113" name="Oval 112">
                <a:extLst>
                  <a:ext uri="{FF2B5EF4-FFF2-40B4-BE49-F238E27FC236}">
                    <a16:creationId xmlns:a16="http://schemas.microsoft.com/office/drawing/2014/main" id="{2C02B771-D4D7-1DC1-7940-F8B5B92161E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1126520" y="5590768"/>
                <a:ext cx="182880" cy="18288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/>
              </a:p>
            </p:txBody>
          </p:sp>
          <p:sp>
            <p:nvSpPr>
              <p:cNvPr id="119" name="Oval 118">
                <a:extLst>
                  <a:ext uri="{FF2B5EF4-FFF2-40B4-BE49-F238E27FC236}">
                    <a16:creationId xmlns:a16="http://schemas.microsoft.com/office/drawing/2014/main" id="{A4886119-1C06-FA3D-0CA4-3EBB0A9B901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499289" y="5587289"/>
                <a:ext cx="182880" cy="182880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/>
              </a:p>
            </p:txBody>
          </p:sp>
          <p:sp>
            <p:nvSpPr>
              <p:cNvPr id="120" name="Oval 119">
                <a:extLst>
                  <a:ext uri="{FF2B5EF4-FFF2-40B4-BE49-F238E27FC236}">
                    <a16:creationId xmlns:a16="http://schemas.microsoft.com/office/drawing/2014/main" id="{423C5546-9819-E818-7590-19CF67C8762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295538" y="5590168"/>
                <a:ext cx="182880" cy="182880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/>
              </a:p>
            </p:txBody>
          </p:sp>
          <p:sp>
            <p:nvSpPr>
              <p:cNvPr id="121" name="Oval 120">
                <a:extLst>
                  <a:ext uri="{FF2B5EF4-FFF2-40B4-BE49-F238E27FC236}">
                    <a16:creationId xmlns:a16="http://schemas.microsoft.com/office/drawing/2014/main" id="{494ADD9E-5A9B-86C0-5E9D-97B7B15ACAD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713355" y="5585121"/>
                <a:ext cx="182880" cy="182880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/>
              </a:p>
            </p:txBody>
          </p:sp>
          <p:sp>
            <p:nvSpPr>
              <p:cNvPr id="122" name="Oval 121">
                <a:extLst>
                  <a:ext uri="{FF2B5EF4-FFF2-40B4-BE49-F238E27FC236}">
                    <a16:creationId xmlns:a16="http://schemas.microsoft.com/office/drawing/2014/main" id="{3C26E1FE-65D3-7EC6-B81E-B03CAC23B11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0930961" y="5591583"/>
                <a:ext cx="182880" cy="182880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/>
              </a:p>
            </p:txBody>
          </p:sp>
          <p:grpSp>
            <p:nvGrpSpPr>
              <p:cNvPr id="149" name="Group 148">
                <a:extLst>
                  <a:ext uri="{FF2B5EF4-FFF2-40B4-BE49-F238E27FC236}">
                    <a16:creationId xmlns:a16="http://schemas.microsoft.com/office/drawing/2014/main" id="{75025479-C376-5298-CBB8-7DA599AFEB10}"/>
                  </a:ext>
                </a:extLst>
              </p:cNvPr>
              <p:cNvGrpSpPr/>
              <p:nvPr/>
            </p:nvGrpSpPr>
            <p:grpSpPr>
              <a:xfrm>
                <a:off x="1643866" y="5256150"/>
                <a:ext cx="9927678" cy="312229"/>
                <a:chOff x="1643866" y="5256150"/>
                <a:chExt cx="9927678" cy="312229"/>
              </a:xfrm>
            </p:grpSpPr>
            <p:sp>
              <p:nvSpPr>
                <p:cNvPr id="127" name="TextBox 126">
                  <a:extLst>
                    <a:ext uri="{FF2B5EF4-FFF2-40B4-BE49-F238E27FC236}">
                      <a16:creationId xmlns:a16="http://schemas.microsoft.com/office/drawing/2014/main" id="{148C4BC8-0F80-E3EB-A625-FE21E6BE439E}"/>
                    </a:ext>
                  </a:extLst>
                </p:cNvPr>
                <p:cNvSpPr txBox="1"/>
                <p:nvPr/>
              </p:nvSpPr>
              <p:spPr>
                <a:xfrm>
                  <a:off x="1643866" y="5260602"/>
                  <a:ext cx="107428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4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2020</a:t>
                  </a:r>
                </a:p>
              </p:txBody>
            </p:sp>
            <p:sp>
              <p:nvSpPr>
                <p:cNvPr id="128" name="TextBox 127">
                  <a:extLst>
                    <a:ext uri="{FF2B5EF4-FFF2-40B4-BE49-F238E27FC236}">
                      <a16:creationId xmlns:a16="http://schemas.microsoft.com/office/drawing/2014/main" id="{AE190FE0-47DD-1B76-A83D-39E985B6465E}"/>
                    </a:ext>
                  </a:extLst>
                </p:cNvPr>
                <p:cNvSpPr txBox="1"/>
                <p:nvPr/>
              </p:nvSpPr>
              <p:spPr>
                <a:xfrm>
                  <a:off x="3859210" y="5260601"/>
                  <a:ext cx="107428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4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2021</a:t>
                  </a:r>
                </a:p>
              </p:txBody>
            </p:sp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632C350A-974F-F463-0787-6E13DF26A6B1}"/>
                    </a:ext>
                  </a:extLst>
                </p:cNvPr>
                <p:cNvSpPr txBox="1"/>
                <p:nvPr/>
              </p:nvSpPr>
              <p:spPr>
                <a:xfrm>
                  <a:off x="6039733" y="5260601"/>
                  <a:ext cx="107428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4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2022</a:t>
                  </a:r>
                </a:p>
              </p:txBody>
            </p:sp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10D49681-A6E6-01D9-2CBA-126B48552251}"/>
                    </a:ext>
                  </a:extLst>
                </p:cNvPr>
                <p:cNvSpPr txBox="1"/>
                <p:nvPr/>
              </p:nvSpPr>
              <p:spPr>
                <a:xfrm>
                  <a:off x="8267654" y="5260601"/>
                  <a:ext cx="107428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4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2023</a:t>
                  </a:r>
                </a:p>
              </p:txBody>
            </p:sp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328E8FF5-2632-690F-D2E2-E411399A20A2}"/>
                    </a:ext>
                  </a:extLst>
                </p:cNvPr>
                <p:cNvSpPr txBox="1"/>
                <p:nvPr/>
              </p:nvSpPr>
              <p:spPr>
                <a:xfrm>
                  <a:off x="10497263" y="5256150"/>
                  <a:ext cx="107428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4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2024</a:t>
                  </a:r>
                </a:p>
              </p:txBody>
            </p:sp>
          </p:grpSp>
        </p:grpSp>
        <p:cxnSp>
          <p:nvCxnSpPr>
            <p:cNvPr id="133" name="Elbow Connector 132">
              <a:extLst>
                <a:ext uri="{FF2B5EF4-FFF2-40B4-BE49-F238E27FC236}">
                  <a16:creationId xmlns:a16="http://schemas.microsoft.com/office/drawing/2014/main" id="{04F88091-3E20-715D-249C-DF5DF2A1CE7B}"/>
                </a:ext>
              </a:extLst>
            </p:cNvPr>
            <p:cNvCxnSpPr>
              <a:stCxn id="110" idx="4"/>
              <a:endCxn id="109" idx="0"/>
            </p:cNvCxnSpPr>
            <p:nvPr/>
          </p:nvCxnSpPr>
          <p:spPr>
            <a:xfrm rot="5400000">
              <a:off x="1938984" y="5894420"/>
              <a:ext cx="484047" cy="2"/>
            </a:xfrm>
            <a:prstGeom prst="bentConnector3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Elbow Connector 134">
              <a:extLst>
                <a:ext uri="{FF2B5EF4-FFF2-40B4-BE49-F238E27FC236}">
                  <a16:creationId xmlns:a16="http://schemas.microsoft.com/office/drawing/2014/main" id="{D3653850-C17B-4D3E-4564-69EEE053C1A7}"/>
                </a:ext>
              </a:extLst>
            </p:cNvPr>
            <p:cNvCxnSpPr>
              <a:cxnSpLocks/>
              <a:stCxn id="113" idx="4"/>
              <a:endCxn id="114" idx="0"/>
            </p:cNvCxnSpPr>
            <p:nvPr/>
          </p:nvCxnSpPr>
          <p:spPr>
            <a:xfrm rot="5400000">
              <a:off x="9581237" y="4490389"/>
              <a:ext cx="474114" cy="2799332"/>
            </a:xfrm>
            <a:prstGeom prst="bentConnector3">
              <a:avLst>
                <a:gd name="adj1" fmla="val 14934"/>
              </a:avLst>
            </a:prstGeom>
            <a:ln w="381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Elbow Connector 137">
              <a:extLst>
                <a:ext uri="{FF2B5EF4-FFF2-40B4-BE49-F238E27FC236}">
                  <a16:creationId xmlns:a16="http://schemas.microsoft.com/office/drawing/2014/main" id="{8E55EF8C-1023-38D6-80B5-CCC31336DF82}"/>
                </a:ext>
              </a:extLst>
            </p:cNvPr>
            <p:cNvCxnSpPr>
              <a:cxnSpLocks/>
              <a:stCxn id="284" idx="4"/>
              <a:endCxn id="115" idx="0"/>
            </p:cNvCxnSpPr>
            <p:nvPr/>
          </p:nvCxnSpPr>
          <p:spPr>
            <a:xfrm rot="5400000">
              <a:off x="10577934" y="5119092"/>
              <a:ext cx="478289" cy="1549063"/>
            </a:xfrm>
            <a:prstGeom prst="bentConnector3">
              <a:avLst>
                <a:gd name="adj1" fmla="val 32620"/>
              </a:avLst>
            </a:prstGeom>
            <a:ln w="381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Elbow Connector 140">
              <a:extLst>
                <a:ext uri="{FF2B5EF4-FFF2-40B4-BE49-F238E27FC236}">
                  <a16:creationId xmlns:a16="http://schemas.microsoft.com/office/drawing/2014/main" id="{9E934D42-3053-5C13-0470-817B4304A0CD}"/>
                </a:ext>
              </a:extLst>
            </p:cNvPr>
            <p:cNvCxnSpPr>
              <a:cxnSpLocks/>
              <a:stCxn id="290" idx="4"/>
              <a:endCxn id="116" idx="0"/>
            </p:cNvCxnSpPr>
            <p:nvPr/>
          </p:nvCxnSpPr>
          <p:spPr>
            <a:xfrm rot="5400000">
              <a:off x="11314209" y="5766123"/>
              <a:ext cx="471350" cy="248062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7" name="Oval 166">
              <a:extLst>
                <a:ext uri="{FF2B5EF4-FFF2-40B4-BE49-F238E27FC236}">
                  <a16:creationId xmlns:a16="http://schemas.microsoft.com/office/drawing/2014/main" id="{F28B7E6E-048E-3BC7-A0E9-D9E4CCF5DC1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313696" y="5482857"/>
              <a:ext cx="164592" cy="164592"/>
            </a:xfrm>
            <a:prstGeom prst="ellipse">
              <a:avLst/>
            </a:prstGeom>
            <a:solidFill>
              <a:schemeClr val="bg1"/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dirty="0"/>
            </a:p>
          </p:txBody>
        </p:sp>
      </p:grpSp>
      <p:grpSp>
        <p:nvGrpSpPr>
          <p:cNvPr id="169" name="Group 168">
            <a:extLst>
              <a:ext uri="{FF2B5EF4-FFF2-40B4-BE49-F238E27FC236}">
                <a16:creationId xmlns:a16="http://schemas.microsoft.com/office/drawing/2014/main" id="{BD3F2C44-33FD-4AAF-48EF-BBBB47862DD7}"/>
              </a:ext>
            </a:extLst>
          </p:cNvPr>
          <p:cNvGrpSpPr/>
          <p:nvPr/>
        </p:nvGrpSpPr>
        <p:grpSpPr>
          <a:xfrm>
            <a:off x="1492362" y="218066"/>
            <a:ext cx="10631892" cy="1717738"/>
            <a:chOff x="1487483" y="5126319"/>
            <a:chExt cx="10631892" cy="1717738"/>
          </a:xfrm>
        </p:grpSpPr>
        <p:sp>
          <p:nvSpPr>
            <p:cNvPr id="170" name="Terminator 169">
              <a:extLst>
                <a:ext uri="{FF2B5EF4-FFF2-40B4-BE49-F238E27FC236}">
                  <a16:creationId xmlns:a16="http://schemas.microsoft.com/office/drawing/2014/main" id="{B8A92AC9-D2E6-65E1-B707-B8E5E5666435}"/>
                </a:ext>
              </a:extLst>
            </p:cNvPr>
            <p:cNvSpPr/>
            <p:nvPr/>
          </p:nvSpPr>
          <p:spPr>
            <a:xfrm>
              <a:off x="1487483" y="6136445"/>
              <a:ext cx="1387045" cy="410452"/>
            </a:xfrm>
            <a:prstGeom prst="flowChartTerminator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atin typeface="Arial" panose="020B0604020202020204" pitchFamily="34" charset="0"/>
                  <a:cs typeface="Arial" panose="020B0604020202020204" pitchFamily="34" charset="0"/>
                </a:rPr>
                <a:t>WGS no diagnosis</a:t>
              </a:r>
            </a:p>
          </p:txBody>
        </p:sp>
        <p:grpSp>
          <p:nvGrpSpPr>
            <p:cNvPr id="171" name="Group 170">
              <a:extLst>
                <a:ext uri="{FF2B5EF4-FFF2-40B4-BE49-F238E27FC236}">
                  <a16:creationId xmlns:a16="http://schemas.microsoft.com/office/drawing/2014/main" id="{C688758B-A18E-6B93-E3F9-71659F03ABD8}"/>
                </a:ext>
              </a:extLst>
            </p:cNvPr>
            <p:cNvGrpSpPr/>
            <p:nvPr/>
          </p:nvGrpSpPr>
          <p:grpSpPr>
            <a:xfrm>
              <a:off x="9344355" y="6125829"/>
              <a:ext cx="2775020" cy="411735"/>
              <a:chOff x="9344355" y="6125829"/>
              <a:chExt cx="2775020" cy="411735"/>
            </a:xfrm>
          </p:grpSpPr>
          <p:sp>
            <p:nvSpPr>
              <p:cNvPr id="197" name="Terminator 196">
                <a:extLst>
                  <a:ext uri="{FF2B5EF4-FFF2-40B4-BE49-F238E27FC236}">
                    <a16:creationId xmlns:a16="http://schemas.microsoft.com/office/drawing/2014/main" id="{38C221D6-F8A1-A0BB-15A6-106C24EF159A}"/>
                  </a:ext>
                </a:extLst>
              </p:cNvPr>
              <p:cNvSpPr/>
              <p:nvPr/>
            </p:nvSpPr>
            <p:spPr>
              <a:xfrm>
                <a:off x="9344355" y="6127112"/>
                <a:ext cx="1387045" cy="410452"/>
              </a:xfrm>
              <a:prstGeom prst="flowChartTerminator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Enters reanalysis</a:t>
                </a:r>
              </a:p>
            </p:txBody>
          </p:sp>
          <p:sp>
            <p:nvSpPr>
              <p:cNvPr id="199" name="Terminator 198">
                <a:extLst>
                  <a:ext uri="{FF2B5EF4-FFF2-40B4-BE49-F238E27FC236}">
                    <a16:creationId xmlns:a16="http://schemas.microsoft.com/office/drawing/2014/main" id="{AC2B1B04-B122-5D53-D4D1-57360FD4E707}"/>
                  </a:ext>
                </a:extLst>
              </p:cNvPr>
              <p:cNvSpPr/>
              <p:nvPr/>
            </p:nvSpPr>
            <p:spPr>
              <a:xfrm>
                <a:off x="10732330" y="6125829"/>
                <a:ext cx="1387045" cy="410452"/>
              </a:xfrm>
              <a:prstGeom prst="flowChartTerminator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Talos diagnosis upon entry</a:t>
                </a:r>
              </a:p>
            </p:txBody>
          </p:sp>
        </p:grpSp>
        <p:sp>
          <p:nvSpPr>
            <p:cNvPr id="172" name="TextBox 171">
              <a:extLst>
                <a:ext uri="{FF2B5EF4-FFF2-40B4-BE49-F238E27FC236}">
                  <a16:creationId xmlns:a16="http://schemas.microsoft.com/office/drawing/2014/main" id="{E0FFE7B2-218D-8B0C-F5A8-A112303B3B08}"/>
                </a:ext>
              </a:extLst>
            </p:cNvPr>
            <p:cNvSpPr txBox="1"/>
            <p:nvPr/>
          </p:nvSpPr>
          <p:spPr>
            <a:xfrm>
              <a:off x="1646540" y="6524252"/>
              <a:ext cx="107428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Apr 2022</a:t>
              </a:r>
            </a:p>
          </p:txBody>
        </p:sp>
        <p:sp>
          <p:nvSpPr>
            <p:cNvPr id="174" name="TextBox 173">
              <a:extLst>
                <a:ext uri="{FF2B5EF4-FFF2-40B4-BE49-F238E27FC236}">
                  <a16:creationId xmlns:a16="http://schemas.microsoft.com/office/drawing/2014/main" id="{543ADD5D-F007-492E-005D-2EAB29BB75EB}"/>
                </a:ext>
              </a:extLst>
            </p:cNvPr>
            <p:cNvSpPr txBox="1"/>
            <p:nvPr/>
          </p:nvSpPr>
          <p:spPr>
            <a:xfrm>
              <a:off x="9461421" y="6536280"/>
              <a:ext cx="107428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Oct 2024</a:t>
              </a:r>
            </a:p>
          </p:txBody>
        </p:sp>
        <p:grpSp>
          <p:nvGrpSpPr>
            <p:cNvPr id="176" name="Group 175">
              <a:extLst>
                <a:ext uri="{FF2B5EF4-FFF2-40B4-BE49-F238E27FC236}">
                  <a16:creationId xmlns:a16="http://schemas.microsoft.com/office/drawing/2014/main" id="{72A56FF6-FA83-7BB7-2C6C-F18D517422A4}"/>
                </a:ext>
              </a:extLst>
            </p:cNvPr>
            <p:cNvGrpSpPr/>
            <p:nvPr/>
          </p:nvGrpSpPr>
          <p:grpSpPr>
            <a:xfrm>
              <a:off x="2425539" y="5126319"/>
              <a:ext cx="9502574" cy="526079"/>
              <a:chOff x="2425539" y="5246969"/>
              <a:chExt cx="9502574" cy="526079"/>
            </a:xfrm>
          </p:grpSpPr>
          <p:cxnSp>
            <p:nvCxnSpPr>
              <p:cNvPr id="182" name="Straight Connector 181">
                <a:extLst>
                  <a:ext uri="{FF2B5EF4-FFF2-40B4-BE49-F238E27FC236}">
                    <a16:creationId xmlns:a16="http://schemas.microsoft.com/office/drawing/2014/main" id="{66B496B8-B394-4A8F-F847-404F6EFDC1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5539" y="5669834"/>
                <a:ext cx="9434926" cy="12077"/>
              </a:xfrm>
              <a:prstGeom prst="line">
                <a:avLst/>
              </a:prstGeom>
              <a:ln w="155575" cap="rnd"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6" name="Oval 185">
                <a:extLst>
                  <a:ext uri="{FF2B5EF4-FFF2-40B4-BE49-F238E27FC236}">
                    <a16:creationId xmlns:a16="http://schemas.microsoft.com/office/drawing/2014/main" id="{0F650AE5-C2D2-34A2-E378-2EEF9771122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1745233" y="5590168"/>
                <a:ext cx="182880" cy="18288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/>
              </a:p>
            </p:txBody>
          </p:sp>
          <p:sp>
            <p:nvSpPr>
              <p:cNvPr id="188" name="Oval 187">
                <a:extLst>
                  <a:ext uri="{FF2B5EF4-FFF2-40B4-BE49-F238E27FC236}">
                    <a16:creationId xmlns:a16="http://schemas.microsoft.com/office/drawing/2014/main" id="{DB8584B0-4DC5-1C3B-6F97-3B26353A5FC1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862998" y="5590168"/>
                <a:ext cx="182880" cy="182880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/>
              </a:p>
            </p:txBody>
          </p:sp>
          <p:sp>
            <p:nvSpPr>
              <p:cNvPr id="189" name="Oval 188">
                <a:extLst>
                  <a:ext uri="{FF2B5EF4-FFF2-40B4-BE49-F238E27FC236}">
                    <a16:creationId xmlns:a16="http://schemas.microsoft.com/office/drawing/2014/main" id="{DF7966CD-7BF1-D2B7-A2D0-F33BD4C26F5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623817" y="5585121"/>
                <a:ext cx="182880" cy="182880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/>
              </a:p>
            </p:txBody>
          </p:sp>
          <p:grpSp>
            <p:nvGrpSpPr>
              <p:cNvPr id="191" name="Group 190">
                <a:extLst>
                  <a:ext uri="{FF2B5EF4-FFF2-40B4-BE49-F238E27FC236}">
                    <a16:creationId xmlns:a16="http://schemas.microsoft.com/office/drawing/2014/main" id="{88DF2066-E7AF-641E-73F6-CE1660745D68}"/>
                  </a:ext>
                </a:extLst>
              </p:cNvPr>
              <p:cNvGrpSpPr/>
              <p:nvPr/>
            </p:nvGrpSpPr>
            <p:grpSpPr>
              <a:xfrm>
                <a:off x="4428548" y="5246969"/>
                <a:ext cx="4821526" cy="331425"/>
                <a:chOff x="4428548" y="5246969"/>
                <a:chExt cx="4821526" cy="331425"/>
              </a:xfrm>
            </p:grpSpPr>
            <p:sp>
              <p:nvSpPr>
                <p:cNvPr id="193" name="TextBox 192">
                  <a:extLst>
                    <a:ext uri="{FF2B5EF4-FFF2-40B4-BE49-F238E27FC236}">
                      <a16:creationId xmlns:a16="http://schemas.microsoft.com/office/drawing/2014/main" id="{15E6C46D-AFA7-A15E-5304-64166EEE1C6D}"/>
                    </a:ext>
                  </a:extLst>
                </p:cNvPr>
                <p:cNvSpPr txBox="1"/>
                <p:nvPr/>
              </p:nvSpPr>
              <p:spPr>
                <a:xfrm>
                  <a:off x="4428548" y="5270617"/>
                  <a:ext cx="107428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4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2023</a:t>
                  </a:r>
                </a:p>
              </p:txBody>
            </p:sp>
            <p:sp>
              <p:nvSpPr>
                <p:cNvPr id="195" name="TextBox 194">
                  <a:extLst>
                    <a:ext uri="{FF2B5EF4-FFF2-40B4-BE49-F238E27FC236}">
                      <a16:creationId xmlns:a16="http://schemas.microsoft.com/office/drawing/2014/main" id="{4C5B09B5-7072-826D-F6CB-AE3081115006}"/>
                    </a:ext>
                  </a:extLst>
                </p:cNvPr>
                <p:cNvSpPr txBox="1"/>
                <p:nvPr/>
              </p:nvSpPr>
              <p:spPr>
                <a:xfrm>
                  <a:off x="8175793" y="5246969"/>
                  <a:ext cx="107428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4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2024</a:t>
                  </a:r>
                </a:p>
              </p:txBody>
            </p:sp>
          </p:grpSp>
        </p:grpSp>
        <p:cxnSp>
          <p:nvCxnSpPr>
            <p:cNvPr id="177" name="Elbow Connector 176">
              <a:extLst>
                <a:ext uri="{FF2B5EF4-FFF2-40B4-BE49-F238E27FC236}">
                  <a16:creationId xmlns:a16="http://schemas.microsoft.com/office/drawing/2014/main" id="{AF87E843-0144-3F1C-4CB1-F23276524DF2}"/>
                </a:ext>
              </a:extLst>
            </p:cNvPr>
            <p:cNvCxnSpPr>
              <a:cxnSpLocks/>
              <a:stCxn id="265" idx="4"/>
              <a:endCxn id="170" idx="0"/>
            </p:cNvCxnSpPr>
            <p:nvPr/>
          </p:nvCxnSpPr>
          <p:spPr>
            <a:xfrm rot="5400000">
              <a:off x="1938984" y="5894420"/>
              <a:ext cx="484047" cy="2"/>
            </a:xfrm>
            <a:prstGeom prst="bentConnector3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Elbow Connector 177">
              <a:extLst>
                <a:ext uri="{FF2B5EF4-FFF2-40B4-BE49-F238E27FC236}">
                  <a16:creationId xmlns:a16="http://schemas.microsoft.com/office/drawing/2014/main" id="{E66F809B-EBE7-2B6C-DACC-2F19DC92622D}"/>
                </a:ext>
              </a:extLst>
            </p:cNvPr>
            <p:cNvCxnSpPr>
              <a:cxnSpLocks/>
              <a:stCxn id="186" idx="4"/>
              <a:endCxn id="197" idx="0"/>
            </p:cNvCxnSpPr>
            <p:nvPr/>
          </p:nvCxnSpPr>
          <p:spPr>
            <a:xfrm rot="5400000">
              <a:off x="10699919" y="4990358"/>
              <a:ext cx="474714" cy="1798795"/>
            </a:xfrm>
            <a:prstGeom prst="bentConnector3">
              <a:avLst>
                <a:gd name="adj1" fmla="val 28597"/>
              </a:avLst>
            </a:prstGeom>
            <a:ln w="381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Elbow Connector 179">
              <a:extLst>
                <a:ext uri="{FF2B5EF4-FFF2-40B4-BE49-F238E27FC236}">
                  <a16:creationId xmlns:a16="http://schemas.microsoft.com/office/drawing/2014/main" id="{D4DC420B-FFEE-A62D-27A9-B300C0D96953}"/>
                </a:ext>
              </a:extLst>
            </p:cNvPr>
            <p:cNvCxnSpPr>
              <a:cxnSpLocks/>
              <a:stCxn id="186" idx="4"/>
              <a:endCxn id="199" idx="0"/>
            </p:cNvCxnSpPr>
            <p:nvPr/>
          </p:nvCxnSpPr>
          <p:spPr>
            <a:xfrm rot="5400000">
              <a:off x="11394548" y="5683703"/>
              <a:ext cx="473431" cy="410820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2" name="Terminator 201">
            <a:extLst>
              <a:ext uri="{FF2B5EF4-FFF2-40B4-BE49-F238E27FC236}">
                <a16:creationId xmlns:a16="http://schemas.microsoft.com/office/drawing/2014/main" id="{AC7F1776-383D-A4C3-FF8B-3ECB3C4B8F9C}"/>
              </a:ext>
            </a:extLst>
          </p:cNvPr>
          <p:cNvSpPr/>
          <p:nvPr/>
        </p:nvSpPr>
        <p:spPr>
          <a:xfrm>
            <a:off x="1497959" y="5939166"/>
            <a:ext cx="1387045" cy="410452"/>
          </a:xfrm>
          <a:prstGeom prst="flowChartTerminator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WGS no diagnosis</a:t>
            </a:r>
          </a:p>
        </p:txBody>
      </p:sp>
      <p:grpSp>
        <p:nvGrpSpPr>
          <p:cNvPr id="203" name="Group 202">
            <a:extLst>
              <a:ext uri="{FF2B5EF4-FFF2-40B4-BE49-F238E27FC236}">
                <a16:creationId xmlns:a16="http://schemas.microsoft.com/office/drawing/2014/main" id="{D78ABF1C-C20B-09AE-FA28-0A95A0A9C23D}"/>
              </a:ext>
            </a:extLst>
          </p:cNvPr>
          <p:cNvGrpSpPr/>
          <p:nvPr/>
        </p:nvGrpSpPr>
        <p:grpSpPr>
          <a:xfrm>
            <a:off x="6167131" y="5928550"/>
            <a:ext cx="5962720" cy="417391"/>
            <a:chOff x="6156655" y="6125829"/>
            <a:chExt cx="5962720" cy="417391"/>
          </a:xfrm>
        </p:grpSpPr>
        <p:sp>
          <p:nvSpPr>
            <p:cNvPr id="229" name="Terminator 228">
              <a:extLst>
                <a:ext uri="{FF2B5EF4-FFF2-40B4-BE49-F238E27FC236}">
                  <a16:creationId xmlns:a16="http://schemas.microsoft.com/office/drawing/2014/main" id="{EB21240B-392C-B1D0-9472-649B0547C441}"/>
                </a:ext>
              </a:extLst>
            </p:cNvPr>
            <p:cNvSpPr/>
            <p:nvPr/>
          </p:nvSpPr>
          <p:spPr>
            <a:xfrm>
              <a:off x="6156655" y="6127112"/>
              <a:ext cx="1387045" cy="410452"/>
            </a:xfrm>
            <a:prstGeom prst="flowChartTerminator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atin typeface="Arial" panose="020B0604020202020204" pitchFamily="34" charset="0"/>
                  <a:cs typeface="Arial" panose="020B0604020202020204" pitchFamily="34" charset="0"/>
                </a:rPr>
                <a:t>Enters reanalysis</a:t>
              </a:r>
            </a:p>
          </p:txBody>
        </p:sp>
        <p:sp>
          <p:nvSpPr>
            <p:cNvPr id="230" name="Terminator 229">
              <a:extLst>
                <a:ext uri="{FF2B5EF4-FFF2-40B4-BE49-F238E27FC236}">
                  <a16:creationId xmlns:a16="http://schemas.microsoft.com/office/drawing/2014/main" id="{C220DB30-9D12-4EE0-C49C-BC60DC1462CD}"/>
                </a:ext>
              </a:extLst>
            </p:cNvPr>
            <p:cNvSpPr/>
            <p:nvPr/>
          </p:nvSpPr>
          <p:spPr>
            <a:xfrm>
              <a:off x="8818599" y="6132768"/>
              <a:ext cx="1917470" cy="410452"/>
            </a:xfrm>
            <a:prstGeom prst="flowChartTerminator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i="1" dirty="0">
                  <a:latin typeface="Arial" panose="020B0604020202020204" pitchFamily="34" charset="0"/>
                  <a:cs typeface="Arial" panose="020B0604020202020204" pitchFamily="34" charset="0"/>
                </a:rPr>
                <a:t>ALPK3</a:t>
              </a:r>
              <a:r>
                <a:rPr lang="en-US" sz="1200" dirty="0">
                  <a:latin typeface="Arial" panose="020B0604020202020204" pitchFamily="34" charset="0"/>
                  <a:cs typeface="Arial" panose="020B0604020202020204" pitchFamily="34" charset="0"/>
                </a:rPr>
                <a:t> AD association ”Strong” by ClinGen</a:t>
              </a:r>
              <a:endParaRPr lang="en-US" sz="1200" i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31" name="Terminator 230">
              <a:extLst>
                <a:ext uri="{FF2B5EF4-FFF2-40B4-BE49-F238E27FC236}">
                  <a16:creationId xmlns:a16="http://schemas.microsoft.com/office/drawing/2014/main" id="{326F900D-0A01-435D-65D2-A645828D25A0}"/>
                </a:ext>
              </a:extLst>
            </p:cNvPr>
            <p:cNvSpPr/>
            <p:nvPr/>
          </p:nvSpPr>
          <p:spPr>
            <a:xfrm>
              <a:off x="10732330" y="6125829"/>
              <a:ext cx="1387045" cy="410452"/>
            </a:xfrm>
            <a:prstGeom prst="flowChartTerminator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atin typeface="Arial" panose="020B0604020202020204" pitchFamily="34" charset="0"/>
                  <a:cs typeface="Arial" panose="020B0604020202020204" pitchFamily="34" charset="0"/>
                </a:rPr>
                <a:t>Talos diagnosis</a:t>
              </a:r>
            </a:p>
          </p:txBody>
        </p:sp>
        <p:sp>
          <p:nvSpPr>
            <p:cNvPr id="232" name="Oval 231">
              <a:extLst>
                <a:ext uri="{FF2B5EF4-FFF2-40B4-BE49-F238E27FC236}">
                  <a16:creationId xmlns:a16="http://schemas.microsoft.com/office/drawing/2014/main" id="{138AF8FF-5AB8-47A8-B038-009C034FA64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454005" y="6137599"/>
              <a:ext cx="365760" cy="365760"/>
            </a:xfrm>
            <a:prstGeom prst="ellipse">
              <a:avLst/>
            </a:prstGeom>
            <a:solidFill>
              <a:schemeClr val="bg1"/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dirty="0"/>
            </a:p>
          </p:txBody>
        </p:sp>
      </p:grpSp>
      <p:sp>
        <p:nvSpPr>
          <p:cNvPr id="204" name="TextBox 203">
            <a:extLst>
              <a:ext uri="{FF2B5EF4-FFF2-40B4-BE49-F238E27FC236}">
                <a16:creationId xmlns:a16="http://schemas.microsoft.com/office/drawing/2014/main" id="{B798A792-DADF-9555-3DA6-F4A9606FF814}"/>
              </a:ext>
            </a:extLst>
          </p:cNvPr>
          <p:cNvSpPr txBox="1"/>
          <p:nvPr/>
        </p:nvSpPr>
        <p:spPr>
          <a:xfrm>
            <a:off x="1656376" y="6348230"/>
            <a:ext cx="107428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Aug 2020</a:t>
            </a: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F56C07E4-9CD4-2EBF-4228-7A01987714D6}"/>
              </a:ext>
            </a:extLst>
          </p:cNvPr>
          <p:cNvSpPr txBox="1"/>
          <p:nvPr/>
        </p:nvSpPr>
        <p:spPr>
          <a:xfrm>
            <a:off x="6319439" y="6345941"/>
            <a:ext cx="107428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July 2023</a:t>
            </a:r>
          </a:p>
        </p:txBody>
      </p:sp>
      <p:sp>
        <p:nvSpPr>
          <p:cNvPr id="206" name="TextBox 205">
            <a:extLst>
              <a:ext uri="{FF2B5EF4-FFF2-40B4-BE49-F238E27FC236}">
                <a16:creationId xmlns:a16="http://schemas.microsoft.com/office/drawing/2014/main" id="{A2F61EF9-DB55-6705-2B8F-A79C9BD0CADC}"/>
              </a:ext>
            </a:extLst>
          </p:cNvPr>
          <p:cNvSpPr txBox="1"/>
          <p:nvPr/>
        </p:nvSpPr>
        <p:spPr>
          <a:xfrm>
            <a:off x="9204178" y="6345940"/>
            <a:ext cx="107428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Dec 2023</a:t>
            </a: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A6C8DD90-ACD9-64EE-E5A9-F31131A636C9}"/>
              </a:ext>
            </a:extLst>
          </p:cNvPr>
          <p:cNvSpPr txBox="1"/>
          <p:nvPr/>
        </p:nvSpPr>
        <p:spPr>
          <a:xfrm>
            <a:off x="10884654" y="6339000"/>
            <a:ext cx="107428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Feb 2024</a:t>
            </a:r>
          </a:p>
        </p:txBody>
      </p:sp>
      <p:grpSp>
        <p:nvGrpSpPr>
          <p:cNvPr id="208" name="Group 207">
            <a:extLst>
              <a:ext uri="{FF2B5EF4-FFF2-40B4-BE49-F238E27FC236}">
                <a16:creationId xmlns:a16="http://schemas.microsoft.com/office/drawing/2014/main" id="{FF08EA6D-4F69-9754-72AB-361B31686F1C}"/>
              </a:ext>
            </a:extLst>
          </p:cNvPr>
          <p:cNvGrpSpPr/>
          <p:nvPr/>
        </p:nvGrpSpPr>
        <p:grpSpPr>
          <a:xfrm>
            <a:off x="2100047" y="4913704"/>
            <a:ext cx="10223265" cy="554408"/>
            <a:chOff x="1837541" y="5231633"/>
            <a:chExt cx="9787679" cy="554408"/>
          </a:xfrm>
        </p:grpSpPr>
        <p:cxnSp>
          <p:nvCxnSpPr>
            <p:cNvPr id="214" name="Straight Connector 213">
              <a:extLst>
                <a:ext uri="{FF2B5EF4-FFF2-40B4-BE49-F238E27FC236}">
                  <a16:creationId xmlns:a16="http://schemas.microsoft.com/office/drawing/2014/main" id="{9C5F400C-15BC-2D0C-A2A2-45EF8B42ECF9}"/>
                </a:ext>
              </a:extLst>
            </p:cNvPr>
            <p:cNvCxnSpPr>
              <a:cxnSpLocks noChangeAspect="1"/>
              <a:endCxn id="241" idx="2"/>
            </p:cNvCxnSpPr>
            <p:nvPr/>
          </p:nvCxnSpPr>
          <p:spPr>
            <a:xfrm>
              <a:off x="1922726" y="5693073"/>
              <a:ext cx="7779326" cy="1528"/>
            </a:xfrm>
            <a:prstGeom prst="line">
              <a:avLst/>
            </a:prstGeom>
            <a:ln w="117475" cap="rnd"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5" name="Oval 214">
              <a:extLst>
                <a:ext uri="{FF2B5EF4-FFF2-40B4-BE49-F238E27FC236}">
                  <a16:creationId xmlns:a16="http://schemas.microsoft.com/office/drawing/2014/main" id="{E63819FD-2782-CE4F-4E23-506DB4BCF79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837541" y="5590168"/>
              <a:ext cx="182880" cy="1828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dirty="0"/>
            </a:p>
          </p:txBody>
        </p:sp>
        <p:sp>
          <p:nvSpPr>
            <p:cNvPr id="216" name="Oval 215">
              <a:extLst>
                <a:ext uri="{FF2B5EF4-FFF2-40B4-BE49-F238E27FC236}">
                  <a16:creationId xmlns:a16="http://schemas.microsoft.com/office/drawing/2014/main" id="{279C76BA-4947-1AB5-729C-7E36F3735BA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203445" y="5603161"/>
              <a:ext cx="182880" cy="18288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dirty="0"/>
            </a:p>
          </p:txBody>
        </p:sp>
        <p:sp>
          <p:nvSpPr>
            <p:cNvPr id="217" name="Oval 216">
              <a:extLst>
                <a:ext uri="{FF2B5EF4-FFF2-40B4-BE49-F238E27FC236}">
                  <a16:creationId xmlns:a16="http://schemas.microsoft.com/office/drawing/2014/main" id="{1D377629-E09C-6720-AAF6-4E4419B731A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794760" y="5603161"/>
              <a:ext cx="182880" cy="18288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dirty="0"/>
            </a:p>
          </p:txBody>
        </p:sp>
        <p:sp>
          <p:nvSpPr>
            <p:cNvPr id="219" name="Oval 218">
              <a:extLst>
                <a:ext uri="{FF2B5EF4-FFF2-40B4-BE49-F238E27FC236}">
                  <a16:creationId xmlns:a16="http://schemas.microsoft.com/office/drawing/2014/main" id="{A95722C4-F0C0-7353-3C61-697C8D11C02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655924" y="5603161"/>
              <a:ext cx="182880" cy="182880"/>
            </a:xfrm>
            <a:prstGeom prst="ellipse">
              <a:avLst/>
            </a:prstGeom>
            <a:solidFill>
              <a:schemeClr val="bg1"/>
            </a:solidFill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dirty="0"/>
            </a:p>
          </p:txBody>
        </p:sp>
        <p:sp>
          <p:nvSpPr>
            <p:cNvPr id="220" name="Oval 219">
              <a:extLst>
                <a:ext uri="{FF2B5EF4-FFF2-40B4-BE49-F238E27FC236}">
                  <a16:creationId xmlns:a16="http://schemas.microsoft.com/office/drawing/2014/main" id="{812DE55A-FA94-6E8C-D9D2-FFA59FF531C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967922" y="5603161"/>
              <a:ext cx="182880" cy="182880"/>
            </a:xfrm>
            <a:prstGeom prst="ellipse">
              <a:avLst/>
            </a:prstGeom>
            <a:solidFill>
              <a:schemeClr val="bg1"/>
            </a:solidFill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dirty="0"/>
            </a:p>
          </p:txBody>
        </p:sp>
        <p:sp>
          <p:nvSpPr>
            <p:cNvPr id="221" name="Oval 220">
              <a:extLst>
                <a:ext uri="{FF2B5EF4-FFF2-40B4-BE49-F238E27FC236}">
                  <a16:creationId xmlns:a16="http://schemas.microsoft.com/office/drawing/2014/main" id="{AB7BF7BD-48EB-20EA-E682-B9BF2235B2F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373811" y="5603161"/>
              <a:ext cx="182880" cy="182880"/>
            </a:xfrm>
            <a:prstGeom prst="ellipse">
              <a:avLst/>
            </a:prstGeom>
            <a:solidFill>
              <a:schemeClr val="bg1"/>
            </a:solidFill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dirty="0"/>
            </a:p>
          </p:txBody>
        </p:sp>
        <p:grpSp>
          <p:nvGrpSpPr>
            <p:cNvPr id="223" name="Group 222">
              <a:extLst>
                <a:ext uri="{FF2B5EF4-FFF2-40B4-BE49-F238E27FC236}">
                  <a16:creationId xmlns:a16="http://schemas.microsoft.com/office/drawing/2014/main" id="{FF18CBA4-1E36-4A14-B621-5EEF9E128383}"/>
                </a:ext>
              </a:extLst>
            </p:cNvPr>
            <p:cNvGrpSpPr/>
            <p:nvPr/>
          </p:nvGrpSpPr>
          <p:grpSpPr>
            <a:xfrm>
              <a:off x="2554326" y="5231633"/>
              <a:ext cx="9070894" cy="337492"/>
              <a:chOff x="2554326" y="5231633"/>
              <a:chExt cx="9070894" cy="337492"/>
            </a:xfrm>
          </p:grpSpPr>
          <p:sp>
            <p:nvSpPr>
              <p:cNvPr id="224" name="TextBox 223">
                <a:extLst>
                  <a:ext uri="{FF2B5EF4-FFF2-40B4-BE49-F238E27FC236}">
                    <a16:creationId xmlns:a16="http://schemas.microsoft.com/office/drawing/2014/main" id="{43B7E1B7-CA91-7C3E-C254-C6E59C26A29B}"/>
                  </a:ext>
                </a:extLst>
              </p:cNvPr>
              <p:cNvSpPr txBox="1"/>
              <p:nvPr/>
            </p:nvSpPr>
            <p:spPr>
              <a:xfrm>
                <a:off x="2554326" y="5261348"/>
                <a:ext cx="107428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2021</a:t>
                </a:r>
              </a:p>
            </p:txBody>
          </p:sp>
          <p:sp>
            <p:nvSpPr>
              <p:cNvPr id="226" name="TextBox 225">
                <a:extLst>
                  <a:ext uri="{FF2B5EF4-FFF2-40B4-BE49-F238E27FC236}">
                    <a16:creationId xmlns:a16="http://schemas.microsoft.com/office/drawing/2014/main" id="{5DA5D3F3-C37C-62FD-85DE-17AC9C68B986}"/>
                  </a:ext>
                </a:extLst>
              </p:cNvPr>
              <p:cNvSpPr txBox="1"/>
              <p:nvPr/>
            </p:nvSpPr>
            <p:spPr>
              <a:xfrm>
                <a:off x="5196959" y="5231766"/>
                <a:ext cx="107428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2022</a:t>
                </a:r>
              </a:p>
            </p:txBody>
          </p:sp>
          <p:sp>
            <p:nvSpPr>
              <p:cNvPr id="227" name="TextBox 226">
                <a:extLst>
                  <a:ext uri="{FF2B5EF4-FFF2-40B4-BE49-F238E27FC236}">
                    <a16:creationId xmlns:a16="http://schemas.microsoft.com/office/drawing/2014/main" id="{48E4DD5F-2E4C-7E7B-EC4E-5D852EBE98D2}"/>
                  </a:ext>
                </a:extLst>
              </p:cNvPr>
              <p:cNvSpPr txBox="1"/>
              <p:nvPr/>
            </p:nvSpPr>
            <p:spPr>
              <a:xfrm>
                <a:off x="7915659" y="5231633"/>
                <a:ext cx="107428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2023</a:t>
                </a:r>
              </a:p>
            </p:txBody>
          </p:sp>
          <p:sp>
            <p:nvSpPr>
              <p:cNvPr id="228" name="TextBox 227">
                <a:extLst>
                  <a:ext uri="{FF2B5EF4-FFF2-40B4-BE49-F238E27FC236}">
                    <a16:creationId xmlns:a16="http://schemas.microsoft.com/office/drawing/2014/main" id="{A70036FD-7335-70DF-990F-A7AF7D98DA4B}"/>
                  </a:ext>
                </a:extLst>
              </p:cNvPr>
              <p:cNvSpPr txBox="1"/>
              <p:nvPr/>
            </p:nvSpPr>
            <p:spPr>
              <a:xfrm>
                <a:off x="10550939" y="5246458"/>
                <a:ext cx="107428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2024</a:t>
                </a:r>
              </a:p>
            </p:txBody>
          </p:sp>
        </p:grpSp>
      </p:grpSp>
      <p:cxnSp>
        <p:nvCxnSpPr>
          <p:cNvPr id="209" name="Elbow Connector 208">
            <a:extLst>
              <a:ext uri="{FF2B5EF4-FFF2-40B4-BE49-F238E27FC236}">
                <a16:creationId xmlns:a16="http://schemas.microsoft.com/office/drawing/2014/main" id="{C57711A0-88B5-C9D6-8354-382E3A799750}"/>
              </a:ext>
            </a:extLst>
          </p:cNvPr>
          <p:cNvCxnSpPr>
            <a:stCxn id="215" idx="4"/>
            <a:endCxn id="202" idx="0"/>
          </p:cNvCxnSpPr>
          <p:nvPr/>
        </p:nvCxnSpPr>
        <p:spPr>
          <a:xfrm rot="5400000">
            <a:off x="1951497" y="5695104"/>
            <a:ext cx="484047" cy="4076"/>
          </a:xfrm>
          <a:prstGeom prst="bentConnector3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Elbow Connector 209">
            <a:extLst>
              <a:ext uri="{FF2B5EF4-FFF2-40B4-BE49-F238E27FC236}">
                <a16:creationId xmlns:a16="http://schemas.microsoft.com/office/drawing/2014/main" id="{670CD976-B27F-4664-BE8E-2371AF434E8A}"/>
              </a:ext>
            </a:extLst>
          </p:cNvPr>
          <p:cNvCxnSpPr>
            <a:cxnSpLocks/>
            <a:stCxn id="241" idx="4"/>
            <a:endCxn id="229" idx="0"/>
          </p:cNvCxnSpPr>
          <p:nvPr/>
        </p:nvCxnSpPr>
        <p:spPr>
          <a:xfrm rot="5400000">
            <a:off x="8404500" y="3924266"/>
            <a:ext cx="461721" cy="3549412"/>
          </a:xfrm>
          <a:prstGeom prst="bentConnector3">
            <a:avLst>
              <a:gd name="adj1" fmla="val 10991"/>
            </a:avLst>
          </a:prstGeom>
          <a:ln w="381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Elbow Connector 210">
            <a:extLst>
              <a:ext uri="{FF2B5EF4-FFF2-40B4-BE49-F238E27FC236}">
                <a16:creationId xmlns:a16="http://schemas.microsoft.com/office/drawing/2014/main" id="{11DDA945-E867-1770-C891-8C90BB30399A}"/>
              </a:ext>
            </a:extLst>
          </p:cNvPr>
          <p:cNvCxnSpPr>
            <a:cxnSpLocks/>
            <a:stCxn id="217" idx="4"/>
            <a:endCxn id="230" idx="0"/>
          </p:cNvCxnSpPr>
          <p:nvPr/>
        </p:nvCxnSpPr>
        <p:spPr>
          <a:xfrm rot="5400000">
            <a:off x="10435919" y="4820003"/>
            <a:ext cx="467377" cy="1763594"/>
          </a:xfrm>
          <a:prstGeom prst="bentConnector3">
            <a:avLst>
              <a:gd name="adj1" fmla="val 38142"/>
            </a:avLst>
          </a:prstGeom>
          <a:ln w="381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Elbow Connector 211">
            <a:extLst>
              <a:ext uri="{FF2B5EF4-FFF2-40B4-BE49-F238E27FC236}">
                <a16:creationId xmlns:a16="http://schemas.microsoft.com/office/drawing/2014/main" id="{4DD4D204-92D5-FEA1-0C4C-3FC80938AAB6}"/>
              </a:ext>
            </a:extLst>
          </p:cNvPr>
          <p:cNvCxnSpPr>
            <a:cxnSpLocks/>
            <a:stCxn id="216" idx="4"/>
            <a:endCxn id="231" idx="0"/>
          </p:cNvCxnSpPr>
          <p:nvPr/>
        </p:nvCxnSpPr>
        <p:spPr>
          <a:xfrm rot="5400000">
            <a:off x="11477084" y="5427357"/>
            <a:ext cx="460438" cy="541948"/>
          </a:xfrm>
          <a:prstGeom prst="bentConnector3">
            <a:avLst>
              <a:gd name="adj1" fmla="val 65045"/>
            </a:avLst>
          </a:prstGeom>
          <a:ln w="381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Rounded Rectangle 232">
            <a:extLst>
              <a:ext uri="{FF2B5EF4-FFF2-40B4-BE49-F238E27FC236}">
                <a16:creationId xmlns:a16="http://schemas.microsoft.com/office/drawing/2014/main" id="{4FD571C5-1B96-9B23-329F-96E1B4183D17}"/>
              </a:ext>
            </a:extLst>
          </p:cNvPr>
          <p:cNvSpPr/>
          <p:nvPr/>
        </p:nvSpPr>
        <p:spPr>
          <a:xfrm>
            <a:off x="109594" y="5085592"/>
            <a:ext cx="1197589" cy="606394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Patient 3</a:t>
            </a:r>
          </a:p>
        </p:txBody>
      </p:sp>
      <p:sp>
        <p:nvSpPr>
          <p:cNvPr id="235" name="Oval 234">
            <a:extLst>
              <a:ext uri="{FF2B5EF4-FFF2-40B4-BE49-F238E27FC236}">
                <a16:creationId xmlns:a16="http://schemas.microsoft.com/office/drawing/2014/main" id="{8EA8FA7A-E1EB-96A2-F6CE-9CA7DD3CF704}"/>
              </a:ext>
            </a:extLst>
          </p:cNvPr>
          <p:cNvSpPr>
            <a:spLocks noChangeAspect="1"/>
          </p:cNvSpPr>
          <p:nvPr/>
        </p:nvSpPr>
        <p:spPr>
          <a:xfrm>
            <a:off x="11670827" y="5285232"/>
            <a:ext cx="182880" cy="18288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p:sp>
        <p:nvSpPr>
          <p:cNvPr id="241" name="Oval 240">
            <a:extLst>
              <a:ext uri="{FF2B5EF4-FFF2-40B4-BE49-F238E27FC236}">
                <a16:creationId xmlns:a16="http://schemas.microsoft.com/office/drawing/2014/main" id="{EFD21757-6DA6-5140-353C-5B681E996CB1}"/>
              </a:ext>
            </a:extLst>
          </p:cNvPr>
          <p:cNvSpPr>
            <a:spLocks noChangeAspect="1"/>
          </p:cNvSpPr>
          <p:nvPr/>
        </p:nvSpPr>
        <p:spPr>
          <a:xfrm>
            <a:off x="10314556" y="5285232"/>
            <a:ext cx="191019" cy="1828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p:sp>
        <p:nvSpPr>
          <p:cNvPr id="247" name="Oval 246">
            <a:extLst>
              <a:ext uri="{FF2B5EF4-FFF2-40B4-BE49-F238E27FC236}">
                <a16:creationId xmlns:a16="http://schemas.microsoft.com/office/drawing/2014/main" id="{D78C4206-327F-59BB-4B6B-EF2533257686}"/>
              </a:ext>
            </a:extLst>
          </p:cNvPr>
          <p:cNvSpPr>
            <a:spLocks noChangeAspect="1"/>
          </p:cNvSpPr>
          <p:nvPr/>
        </p:nvSpPr>
        <p:spPr>
          <a:xfrm>
            <a:off x="7792764" y="5940320"/>
            <a:ext cx="365760" cy="36576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p:sp>
        <p:nvSpPr>
          <p:cNvPr id="248" name="Oval 247">
            <a:extLst>
              <a:ext uri="{FF2B5EF4-FFF2-40B4-BE49-F238E27FC236}">
                <a16:creationId xmlns:a16="http://schemas.microsoft.com/office/drawing/2014/main" id="{E7FC8055-EC09-B843-A5F8-88023E1D4618}"/>
              </a:ext>
            </a:extLst>
          </p:cNvPr>
          <p:cNvSpPr>
            <a:spLocks noChangeAspect="1"/>
          </p:cNvSpPr>
          <p:nvPr/>
        </p:nvSpPr>
        <p:spPr>
          <a:xfrm>
            <a:off x="8134670" y="5934470"/>
            <a:ext cx="365760" cy="36576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p:sp>
        <p:nvSpPr>
          <p:cNvPr id="249" name="Oval 248">
            <a:extLst>
              <a:ext uri="{FF2B5EF4-FFF2-40B4-BE49-F238E27FC236}">
                <a16:creationId xmlns:a16="http://schemas.microsoft.com/office/drawing/2014/main" id="{8441ABE0-AD36-D3D5-EBB8-B0D532956E21}"/>
              </a:ext>
            </a:extLst>
          </p:cNvPr>
          <p:cNvSpPr>
            <a:spLocks noChangeAspect="1"/>
          </p:cNvSpPr>
          <p:nvPr/>
        </p:nvSpPr>
        <p:spPr>
          <a:xfrm>
            <a:off x="8485227" y="5934470"/>
            <a:ext cx="365760" cy="36576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D8D17C64-52D9-60BD-350D-904CCE2665B5}"/>
              </a:ext>
            </a:extLst>
          </p:cNvPr>
          <p:cNvSpPr txBox="1"/>
          <p:nvPr/>
        </p:nvSpPr>
        <p:spPr>
          <a:xfrm>
            <a:off x="10874798" y="1621694"/>
            <a:ext cx="107428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Oct 2024</a:t>
            </a:r>
          </a:p>
        </p:txBody>
      </p:sp>
      <p:sp>
        <p:nvSpPr>
          <p:cNvPr id="265" name="Oval 264">
            <a:extLst>
              <a:ext uri="{FF2B5EF4-FFF2-40B4-BE49-F238E27FC236}">
                <a16:creationId xmlns:a16="http://schemas.microsoft.com/office/drawing/2014/main" id="{1F24C249-9FB1-D6E0-B6D6-C46DEDEC6310}"/>
              </a:ext>
            </a:extLst>
          </p:cNvPr>
          <p:cNvSpPr>
            <a:spLocks noChangeAspect="1"/>
          </p:cNvSpPr>
          <p:nvPr/>
        </p:nvSpPr>
        <p:spPr>
          <a:xfrm>
            <a:off x="2094447" y="561265"/>
            <a:ext cx="182880" cy="18288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p:sp>
        <p:nvSpPr>
          <p:cNvPr id="267" name="Terminator 266">
            <a:extLst>
              <a:ext uri="{FF2B5EF4-FFF2-40B4-BE49-F238E27FC236}">
                <a16:creationId xmlns:a16="http://schemas.microsoft.com/office/drawing/2014/main" id="{0F3F5041-2B4D-BAA7-66F5-5C2F10B5FEA4}"/>
              </a:ext>
            </a:extLst>
          </p:cNvPr>
          <p:cNvSpPr/>
          <p:nvPr/>
        </p:nvSpPr>
        <p:spPr>
          <a:xfrm>
            <a:off x="2871986" y="1217576"/>
            <a:ext cx="1807958" cy="410452"/>
          </a:xfrm>
          <a:prstGeom prst="flowChartTerminator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i="1" dirty="0">
                <a:latin typeface="Arial" panose="020B0604020202020204" pitchFamily="34" charset="0"/>
                <a:cs typeface="Arial" panose="020B0604020202020204" pitchFamily="34" charset="0"/>
              </a:rPr>
              <a:t>CTR9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published, added to PanelApp</a:t>
            </a:r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69" name="Elbow Connector 268">
            <a:extLst>
              <a:ext uri="{FF2B5EF4-FFF2-40B4-BE49-F238E27FC236}">
                <a16:creationId xmlns:a16="http://schemas.microsoft.com/office/drawing/2014/main" id="{9A9C5D86-EBBA-D1D2-1499-6709000F7551}"/>
              </a:ext>
            </a:extLst>
          </p:cNvPr>
          <p:cNvCxnSpPr>
            <a:cxnSpLocks/>
            <a:stCxn id="275" idx="4"/>
            <a:endCxn id="267" idx="0"/>
          </p:cNvCxnSpPr>
          <p:nvPr/>
        </p:nvCxnSpPr>
        <p:spPr>
          <a:xfrm rot="16200000" flipH="1">
            <a:off x="2866518" y="308128"/>
            <a:ext cx="480427" cy="1338468"/>
          </a:xfrm>
          <a:prstGeom prst="bentConnector3">
            <a:avLst>
              <a:gd name="adj1" fmla="val 50000"/>
            </a:avLst>
          </a:prstGeom>
          <a:ln w="381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TextBox 271">
            <a:extLst>
              <a:ext uri="{FF2B5EF4-FFF2-40B4-BE49-F238E27FC236}">
                <a16:creationId xmlns:a16="http://schemas.microsoft.com/office/drawing/2014/main" id="{2D32AD35-F510-D3AF-6F29-78272AB8456F}"/>
              </a:ext>
            </a:extLst>
          </p:cNvPr>
          <p:cNvSpPr txBox="1"/>
          <p:nvPr/>
        </p:nvSpPr>
        <p:spPr>
          <a:xfrm>
            <a:off x="3235631" y="1628027"/>
            <a:ext cx="107428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May 2022</a:t>
            </a:r>
          </a:p>
        </p:txBody>
      </p:sp>
      <p:sp>
        <p:nvSpPr>
          <p:cNvPr id="275" name="Oval 274">
            <a:extLst>
              <a:ext uri="{FF2B5EF4-FFF2-40B4-BE49-F238E27FC236}">
                <a16:creationId xmlns:a16="http://schemas.microsoft.com/office/drawing/2014/main" id="{A3440E89-B7E9-A3A4-1378-EC38F0F39B44}"/>
              </a:ext>
            </a:extLst>
          </p:cNvPr>
          <p:cNvSpPr>
            <a:spLocks noChangeAspect="1"/>
          </p:cNvSpPr>
          <p:nvPr/>
        </p:nvSpPr>
        <p:spPr>
          <a:xfrm>
            <a:off x="2346057" y="554269"/>
            <a:ext cx="182880" cy="1828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p:sp>
        <p:nvSpPr>
          <p:cNvPr id="284" name="Oval 283">
            <a:extLst>
              <a:ext uri="{FF2B5EF4-FFF2-40B4-BE49-F238E27FC236}">
                <a16:creationId xmlns:a16="http://schemas.microsoft.com/office/drawing/2014/main" id="{339587C6-0424-82C7-F06C-A4BD1CB2EB75}"/>
              </a:ext>
            </a:extLst>
          </p:cNvPr>
          <p:cNvSpPr>
            <a:spLocks noChangeAspect="1"/>
          </p:cNvSpPr>
          <p:nvPr/>
        </p:nvSpPr>
        <p:spPr>
          <a:xfrm>
            <a:off x="11505048" y="2825692"/>
            <a:ext cx="182880" cy="1828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p:sp>
        <p:nvSpPr>
          <p:cNvPr id="290" name="Oval 289">
            <a:extLst>
              <a:ext uri="{FF2B5EF4-FFF2-40B4-BE49-F238E27FC236}">
                <a16:creationId xmlns:a16="http://schemas.microsoft.com/office/drawing/2014/main" id="{2F73DE22-2795-AD79-CA5A-6A046A16A408}"/>
              </a:ext>
            </a:extLst>
          </p:cNvPr>
          <p:cNvSpPr>
            <a:spLocks noChangeAspect="1"/>
          </p:cNvSpPr>
          <p:nvPr/>
        </p:nvSpPr>
        <p:spPr>
          <a:xfrm>
            <a:off x="11587354" y="2825692"/>
            <a:ext cx="182880" cy="1828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p:sp>
        <p:nvSpPr>
          <p:cNvPr id="299" name="Oval 298">
            <a:extLst>
              <a:ext uri="{FF2B5EF4-FFF2-40B4-BE49-F238E27FC236}">
                <a16:creationId xmlns:a16="http://schemas.microsoft.com/office/drawing/2014/main" id="{50810C88-8F19-7296-422B-4E43BEC47E0C}"/>
              </a:ext>
            </a:extLst>
          </p:cNvPr>
          <p:cNvSpPr>
            <a:spLocks noChangeAspect="1"/>
          </p:cNvSpPr>
          <p:nvPr/>
        </p:nvSpPr>
        <p:spPr>
          <a:xfrm>
            <a:off x="10578448" y="5289148"/>
            <a:ext cx="164592" cy="164592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p:sp>
        <p:nvSpPr>
          <p:cNvPr id="300" name="Oval 299">
            <a:extLst>
              <a:ext uri="{FF2B5EF4-FFF2-40B4-BE49-F238E27FC236}">
                <a16:creationId xmlns:a16="http://schemas.microsoft.com/office/drawing/2014/main" id="{80238B41-1B33-9B42-8130-E1C7405E075C}"/>
              </a:ext>
            </a:extLst>
          </p:cNvPr>
          <p:cNvSpPr>
            <a:spLocks noChangeAspect="1"/>
          </p:cNvSpPr>
          <p:nvPr/>
        </p:nvSpPr>
        <p:spPr>
          <a:xfrm>
            <a:off x="10802358" y="5289148"/>
            <a:ext cx="164592" cy="164592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p:sp>
        <p:nvSpPr>
          <p:cNvPr id="301" name="Oval 300">
            <a:extLst>
              <a:ext uri="{FF2B5EF4-FFF2-40B4-BE49-F238E27FC236}">
                <a16:creationId xmlns:a16="http://schemas.microsoft.com/office/drawing/2014/main" id="{8AAD2385-5D77-062F-8CFB-D11AB67FDDA2}"/>
              </a:ext>
            </a:extLst>
          </p:cNvPr>
          <p:cNvSpPr>
            <a:spLocks noChangeAspect="1"/>
          </p:cNvSpPr>
          <p:nvPr/>
        </p:nvSpPr>
        <p:spPr>
          <a:xfrm>
            <a:off x="11026268" y="5289148"/>
            <a:ext cx="164592" cy="164592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p:sp>
        <p:nvSpPr>
          <p:cNvPr id="302" name="Oval 301">
            <a:extLst>
              <a:ext uri="{FF2B5EF4-FFF2-40B4-BE49-F238E27FC236}">
                <a16:creationId xmlns:a16="http://schemas.microsoft.com/office/drawing/2014/main" id="{DC3B1CCC-D6C6-86D5-E98C-DF6E0FD76385}"/>
              </a:ext>
            </a:extLst>
          </p:cNvPr>
          <p:cNvSpPr>
            <a:spLocks noChangeAspect="1"/>
          </p:cNvSpPr>
          <p:nvPr/>
        </p:nvSpPr>
        <p:spPr>
          <a:xfrm>
            <a:off x="11247346" y="5285232"/>
            <a:ext cx="164592" cy="164592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69884109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PG_colors">
      <a:dk1>
        <a:srgbClr val="000000"/>
      </a:dk1>
      <a:lt1>
        <a:srgbClr val="FFFFFF"/>
      </a:lt1>
      <a:dk2>
        <a:srgbClr val="353431"/>
      </a:dk2>
      <a:lt2>
        <a:srgbClr val="FFFFFF"/>
      </a:lt2>
      <a:accent1>
        <a:srgbClr val="016FB9"/>
      </a:accent1>
      <a:accent2>
        <a:srgbClr val="EB4D1F"/>
      </a:accent2>
      <a:accent3>
        <a:srgbClr val="218280"/>
      </a:accent3>
      <a:accent4>
        <a:srgbClr val="FF9407"/>
      </a:accent4>
      <a:accent5>
        <a:srgbClr val="71979A"/>
      </a:accent5>
      <a:accent6>
        <a:srgbClr val="98323C"/>
      </a:accent6>
      <a:hlink>
        <a:srgbClr val="5E5C9D"/>
      </a:hlink>
      <a:folHlink>
        <a:srgbClr val="4F697F"/>
      </a:folHlink>
    </a:clrScheme>
    <a:fontScheme name="MCRI">
      <a:majorFont>
        <a:latin typeface="Trebuchet MS"/>
        <a:ea typeface=""/>
        <a:cs typeface=""/>
      </a:majorFont>
      <a:minorFont>
        <a:latin typeface="Trebuchet MS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2025-01-09_PipelineColorZ" id="{C8AF33CE-C61E-9141-92B6-6776E3CC7EB0}" vid="{AEA48967-E223-DA48-B3B1-81FAEF9742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Related_x0020_Policies xmlns="5ab38884-37dc-4a67-b289-65fc4dd4947e">
      <Value>13</Value>
    </Related_x0020_Policies>
    <IconOverlay xmlns="http://schemas.microsoft.com/sharepoint/v4" xsi:nil="true"/>
    <Document_x0020_Type xmlns="42e6a7bd-fa92-48bf-87fd-413e7e460b67">Template</Document_x0020_Type>
    <FormsAndTemplateDescription xmlns="5ab38884-37dc-4a67-b289-65fc4dd4947e" xsi:nil="true"/>
    <TaxCatchAll xmlns="5ab38884-37dc-4a67-b289-65fc4dd4947e">
      <Value>2</Value>
    </TaxCatchAll>
    <PublishingExpirationDate xmlns="http://schemas.microsoft.com/sharepoint/v3" xsi:nil="true"/>
    <RoutingRuleDescription xmlns="http://schemas.microsoft.com/sharepoint/v3" xsi:nil="true"/>
    <a9af918a16cb4b9993f2d49185a38995 xmlns="5ab38884-37dc-4a67-b289-65fc4dd4947e">
      <Terms xmlns="http://schemas.microsoft.com/office/infopath/2007/PartnerControls">
        <TermInfo xmlns="http://schemas.microsoft.com/office/infopath/2007/PartnerControls">
          <TermName xmlns="http://schemas.microsoft.com/office/infopath/2007/PartnerControls">Communications and Branding</TermName>
          <TermId xmlns="http://schemas.microsoft.com/office/infopath/2007/PartnerControls">d3634a1f-e3c7-4a34-bc3e-4fd78a49157d</TermId>
        </TermInfo>
      </Terms>
    </a9af918a16cb4b9993f2d49185a38995>
    <PublishingStartDate xmlns="http://schemas.microsoft.com/sharepoint/v3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DC34113FAEF2D4B9B062DC51C695065" ma:contentTypeVersion="15" ma:contentTypeDescription="Create a new document." ma:contentTypeScope="" ma:versionID="58e234f559b9dce734be26678fb27303">
  <xsd:schema xmlns:xsd="http://www.w3.org/2001/XMLSchema" xmlns:xs="http://www.w3.org/2001/XMLSchema" xmlns:p="http://schemas.microsoft.com/office/2006/metadata/properties" xmlns:ns1="http://schemas.microsoft.com/sharepoint/v3" xmlns:ns2="5ab38884-37dc-4a67-b289-65fc4dd4947e" xmlns:ns3="42e6a7bd-fa92-48bf-87fd-413e7e460b67" xmlns:ns4="http://schemas.microsoft.com/sharepoint/v4" targetNamespace="http://schemas.microsoft.com/office/2006/metadata/properties" ma:root="true" ma:fieldsID="32043ff641bfeec8bbd903bbaa6ad436" ns1:_="" ns2:_="" ns3:_="" ns4:_="">
    <xsd:import namespace="http://schemas.microsoft.com/sharepoint/v3"/>
    <xsd:import namespace="5ab38884-37dc-4a67-b289-65fc4dd4947e"/>
    <xsd:import namespace="42e6a7bd-fa92-48bf-87fd-413e7e460b67"/>
    <xsd:import namespace="http://schemas.microsoft.com/sharepoint/v4"/>
    <xsd:element name="properties">
      <xsd:complexType>
        <xsd:sequence>
          <xsd:element name="documentManagement">
            <xsd:complexType>
              <xsd:all>
                <xsd:element ref="ns1:PublishingStartDate" minOccurs="0"/>
                <xsd:element ref="ns1:PublishingExpirationDate" minOccurs="0"/>
                <xsd:element ref="ns2:a9af918a16cb4b9993f2d49185a38995" minOccurs="0"/>
                <xsd:element ref="ns2:TaxCatchAll" minOccurs="0"/>
                <xsd:element ref="ns2:Related_x0020_Policies" minOccurs="0"/>
                <xsd:element ref="ns3:Document_x0020_Type" minOccurs="0"/>
                <xsd:element ref="ns4:IconOverlay" minOccurs="0"/>
                <xsd:element ref="ns1:RoutingRuleDescription" minOccurs="0"/>
                <xsd:element ref="ns2:FormsAndTemplateDescrip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PublishingStartDate" ma:index="8" nillable="true" ma:displayName="Scheduling Start Date" ma:description="Scheduling Start Date is a site column created by the Publishing feature. It is used to specify the date and time on which this page will first appear to site visitors." ma:hidden="true" ma:internalName="PublishingStartDate">
      <xsd:simpleType>
        <xsd:restriction base="dms:Unknown"/>
      </xsd:simpleType>
    </xsd:element>
    <xsd:element name="PublishingExpirationDate" ma:index="9" nillable="true" ma:displayName="Scheduling End Date" ma:description="Scheduling End Date is a site column created by the Publishing feature. It is used to specify the date and time on which this page will no longer appear to site visitors." ma:hidden="true" ma:internalName="PublishingExpirationDate">
      <xsd:simpleType>
        <xsd:restriction base="dms:Unknown"/>
      </xsd:simpleType>
    </xsd:element>
    <xsd:element name="RoutingRuleDescription" ma:index="17" nillable="true" ma:displayName="Description" ma:hidden="true" ma:internalName="Description0" ma:readOnly="false">
      <xsd:simpleType>
        <xsd:restriction base="dms:Text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ab38884-37dc-4a67-b289-65fc4dd4947e" elementFormDefault="qualified">
    <xsd:import namespace="http://schemas.microsoft.com/office/2006/documentManagement/types"/>
    <xsd:import namespace="http://schemas.microsoft.com/office/infopath/2007/PartnerControls"/>
    <xsd:element name="a9af918a16cb4b9993f2d49185a38995" ma:index="12" nillable="true" ma:taxonomy="true" ma:internalName="a9af918a16cb4b9993f2d49185a38995" ma:taxonomyFieldName="Policy_x0020_Categories" ma:displayName="Policy Categories" ma:default="" ma:fieldId="{a9af918a-16cb-4b99-93f2-d49185a38995}" ma:taxonomyMulti="true" ma:sspId="bc699ce4-aa2f-44a6-b0de-470a1fc35dec" ma:termSetId="799a7da0-ea91-424f-add1-4398b2ae9414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axCatchAll" ma:index="13" nillable="true" ma:displayName="Taxonomy Catch All Column" ma:hidden="true" ma:list="{45b12e96-7bc1-45c1-881a-89d178258510}" ma:internalName="TaxCatchAll" ma:showField="CatchAllData" ma:web="5ab38884-37dc-4a67-b289-65fc4dd4947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Related_x0020_Policies" ma:index="14" nillable="true" ma:displayName="Related Policies" ma:list="{27888a6e-ef82-47e8-b17e-a8a15cf6d6ae}" ma:internalName="Related_x0020_Policies" ma:readOnly="false" ma:showField="Title" ma:web="5ab38884-37dc-4a67-b289-65fc4dd4947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FormsAndTemplateDescription" ma:index="18" nillable="true" ma:displayName="Form and Template Description" ma:description="To store description about a Forms and Template document" ma:internalName="Form_x0020_and_x0020_Template_x0020_Description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2e6a7bd-fa92-48bf-87fd-413e7e460b67" elementFormDefault="qualified">
    <xsd:import namespace="http://schemas.microsoft.com/office/2006/documentManagement/types"/>
    <xsd:import namespace="http://schemas.microsoft.com/office/infopath/2007/PartnerControls"/>
    <xsd:element name="Document_x0020_Type" ma:index="15" nillable="true" ma:displayName="Document Type" ma:default="Other" ma:format="Dropdown" ma:internalName="Document_x0020_Type">
      <xsd:simpleType>
        <xsd:restriction base="dms:Choice">
          <xsd:enumeration value="Form"/>
          <xsd:enumeration value="Template"/>
          <xsd:enumeration value="Other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4" elementFormDefault="qualified">
    <xsd:import namespace="http://schemas.microsoft.com/office/2006/documentManagement/types"/>
    <xsd:import namespace="http://schemas.microsoft.com/office/infopath/2007/PartnerControls"/>
    <xsd:element name="IconOverlay" ma:index="16" nillable="true" ma:displayName="IconOverlay" ma:hidden="true" ma:internalName="IconOverlay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1F48A5A-0F9E-4D01-B631-B813ED14491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5F8CBEA-1C54-4E0C-8025-5C3E0BE19B8B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5ab38884-37dc-4a67-b289-65fc4dd4947e"/>
    <ds:schemaRef ds:uri="42e6a7bd-fa92-48bf-87fd-413e7e460b67"/>
    <ds:schemaRef ds:uri="http://schemas.microsoft.com/sharepoint/v4"/>
  </ds:schemaRefs>
</ds:datastoreItem>
</file>

<file path=customXml/itemProps3.xml><?xml version="1.0" encoding="utf-8"?>
<ds:datastoreItem xmlns:ds="http://schemas.openxmlformats.org/officeDocument/2006/customXml" ds:itemID="{4FA3E5E8-66EB-4A3F-A766-46980C16913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5ab38884-37dc-4a67-b289-65fc4dd4947e"/>
    <ds:schemaRef ds:uri="42e6a7bd-fa92-48bf-87fd-413e7e460b67"/>
    <ds:schemaRef ds:uri="http://schemas.microsoft.com/sharepoint/v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35672</TotalTime>
  <Words>82</Words>
  <Application>Microsoft Macintosh PowerPoint</Application>
  <PresentationFormat>Widescreen</PresentationFormat>
  <Paragraphs>38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Trebuchet MS</vt:lpstr>
      <vt:lpstr>Wingdings</vt:lpstr>
      <vt:lpstr>1_Office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Kaileigh Ahlquist</dc:creator>
  <cp:lastModifiedBy>Cas Simons</cp:lastModifiedBy>
  <cp:revision>6</cp:revision>
  <cp:lastPrinted>2019-08-08T01:32:38Z</cp:lastPrinted>
  <dcterms:created xsi:type="dcterms:W3CDTF">2025-04-03T20:16:00Z</dcterms:created>
  <dcterms:modified xsi:type="dcterms:W3CDTF">2025-12-16T07:29:36Z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0x0101006DC34113FAEF2D4B9B062DC51C695065</vt:lpwstr>
  </property>
  <property fmtid="{D5CDD505-2E9C-101B-9397-08002B2CF9AE}" pid="3" name="Policy Categories">
    <vt:lpwstr>2;#Communications and Branding|d3634a1f-e3c7-4a34-bc3e-4fd78a49157d</vt:lpwstr>
  </property>
  <property fmtid="{D5CDD505-2E9C-101B-9397-08002B2CF9AE}" pid="4" name="URL">
    <vt:lpwstr>https://intranet.mcri.edu.au/sites/policies/Documents/MCRI_Master_PPT.pptx, https://intranet.mcri.edu.au/sites/policies/Documents/MCRI_Master_PPT.pptx</vt:lpwstr>
  </property>
</Properties>
</file>